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Drop the hook question and let it hang for 2-3 seconds before you start talking. Tell them this exact scenario has happened in real environments. Don't answer it yet — the next 12 minutes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teaching point: triage is the job. Organizations get thousands of alerts per day — what makes you valuable is knowing which ones are real. Ask: 'What is the difference between a false positive and a true positive?' Canvas PII breach = great local example students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the $4.88M stat — it lands. Then: 'The organizations that recover fastest are not the ones with the best tech. They are the ones with the best plan.' HIPAA/GDPR deadlines make IR speed a legal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slide — spend 60-90 seconds here. Walk each phase with one sentence. Emphasize the CYCLE — draw a loop with your hand: 'Phase 6 is not the end, it is the input to Phase 1 next time.' Ask which phase is most often skipped (Lessons Learned — tee up slide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INSTRUCTOR: hints on screen are for YOUR reference — cover them until after students respond. Ask Q1 cold. For Q3, if nobody says 'isolate from the network,' prompt: 'What is your risk if you wipe it immediately?' Answer: you destroy forensic evidence and violate eradication procedure. This question separates students who understand process from those just reacting.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mic-drop slide. Colonial Pipeline: $4.4M ransom traced to ONE credential that should have been caught in a post-incident review. 'Lessons Learned is not paperwork — it is how you stop the same incident from happening twice.' Ask: 'Has anyone ever done a debrief that actually changed how you work?'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Security+ Domain 4 — what most students go for first. Mention your CySA+ directly: that cert is built around exactly this work. Exit ticket if time: 'Which phase would be hardest for you personally — and why?'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65760"/>
            <a:ext cx="1828800" cy="347472"/>
          </a:xfrm>
          <a:prstGeom prst="roundRect">
            <a:avLst>
              <a:gd name="adj" fmla="val 9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65760"/>
            <a:ext cx="18288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CBSY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56692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Incident Response</a:t>
            </a:r>
          </a:p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&amp;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060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12A89D"/>
                </a:solidFill>
                <a:latin typeface="Calibri"/>
              </a:rPr>
              <a:t>Understanding the IR Life 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154680"/>
            <a:ext cx="8321040" cy="1417320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25400">
            <a:solidFill>
              <a:srgbClr val="0E7C7B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246120"/>
            <a:ext cx="7955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2A89D"/>
                </a:solidFill>
                <a:latin typeface="Calibri"/>
              </a:rPr>
              <a:t>OPENING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20440"/>
            <a:ext cx="795527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A261"/>
                </a:solidFill>
                <a:latin typeface="Calibri"/>
              </a:rPr>
              <a:t>It's 2:30 AM. Your SIEM fires 47 alerts. Your phone 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04487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9E8F5"/>
                </a:solidFill>
                <a:latin typeface="Calibri"/>
              </a:rPr>
              <a:t>What's your first move — and why does it matter?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81728"/>
            <a:ext cx="8321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E6080"/>
                </a:solidFill>
                <a:latin typeface="Calibri"/>
              </a:rPr>
              <a:t>Steve Schofield  |  CompTIA CySA+  ·  Security+  ·  Pentest+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Is a Security Incident?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Not every alert is an incident — but every incident starts as an alert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4114800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NIST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08176"/>
            <a:ext cx="3840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D4A62"/>
                </a:solidFill>
                <a:latin typeface="Calibri"/>
              </a:rPr>
              <a:t>A violation — or imminent threat of violation — of computer security policies, acceptable use policies, or standard security practices.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  <a:latin typeface="Calibri"/>
              </a:rPr>
              <a:t>Alert Escalation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944368"/>
            <a:ext cx="3931920" cy="420624"/>
          </a:xfrm>
          <a:prstGeom prst="roundRect">
            <a:avLst>
              <a:gd name="adj" fmla="val 9000"/>
            </a:avLst>
          </a:prstGeom>
          <a:solidFill>
            <a:srgbClr val="DCF0F5"/>
          </a:solidFill>
          <a:ln w="1524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44368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0E7C7B"/>
                </a:solidFill>
                <a:latin typeface="Calibri"/>
              </a:rPr>
              <a:t>Alert Fires (SIEM / EDR / IDS)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3931920" cy="1097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AABBC8"/>
                </a:solidFill>
                <a:latin typeface="Calibri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511296"/>
            <a:ext cx="3931920" cy="420624"/>
          </a:xfrm>
          <a:prstGeom prst="roundRect">
            <a:avLst>
              <a:gd name="adj" fmla="val 9000"/>
            </a:avLst>
          </a:prstGeom>
          <a:solidFill>
            <a:srgbClr val="FFF5E6"/>
          </a:solidFill>
          <a:ln w="15240">
            <a:solidFill>
              <a:srgbClr val="F4A2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511296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06010"/>
                </a:solidFill>
                <a:latin typeface="Calibri"/>
              </a:rPr>
              <a:t>Analyst Investigates / Triages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968496"/>
            <a:ext cx="3931920" cy="1097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AABBC8"/>
                </a:solidFill>
                <a:latin typeface="Calibr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078224"/>
            <a:ext cx="3931920" cy="420624"/>
          </a:xfrm>
          <a:prstGeom prst="roundRect">
            <a:avLst>
              <a:gd name="adj" fmla="val 9000"/>
            </a:avLst>
          </a:prstGeom>
          <a:solidFill>
            <a:srgbClr val="FDECEA"/>
          </a:solidFill>
          <a:ln w="1524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078224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71C1C"/>
                </a:solidFill>
                <a:latin typeface="Calibri"/>
              </a:rPr>
              <a:t>Incident Declared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024128"/>
            <a:ext cx="4251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Real-World Examples You'll Encounter: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1417320"/>
            <a:ext cx="4251960" cy="694944"/>
          </a:xfrm>
          <a:prstGeom prst="roundRect">
            <a:avLst>
              <a:gd name="adj" fmla="val 9000"/>
            </a:avLst>
          </a:prstGeom>
          <a:solidFill>
            <a:srgbClr val="F4F9FF"/>
          </a:solidFill>
          <a:ln w="9525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81728" y="163677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48132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Phishing / BEC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764792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D4A62"/>
                </a:solidFill>
                <a:latin typeface="Calibri"/>
              </a:rPr>
              <a:t>Business email compromise — attacker impersonates exec or vendor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240280"/>
            <a:ext cx="4251960" cy="69494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81728" y="2459736"/>
            <a:ext cx="237744" cy="237744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0428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Ransomware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587752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D4A62"/>
                </a:solidFill>
                <a:latin typeface="Calibri"/>
              </a:rPr>
              <a:t>Files encrypted, ransom note dropped — business halted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3063240"/>
            <a:ext cx="4251960" cy="694944"/>
          </a:xfrm>
          <a:prstGeom prst="roundRect">
            <a:avLst>
              <a:gd name="adj" fmla="val 9000"/>
            </a:avLst>
          </a:prstGeom>
          <a:solidFill>
            <a:srgbClr val="F4F9FF"/>
          </a:solidFill>
          <a:ln w="9525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81728" y="3282696"/>
            <a:ext cx="237744" cy="23774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312724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Malware / IoT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410712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D4A62"/>
                </a:solidFill>
                <a:latin typeface="Calibri"/>
              </a:rPr>
              <a:t>Embedded code, PLC or industrial device exploits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3886200"/>
            <a:ext cx="4251960" cy="69494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81728" y="4105656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95020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PII Exposure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233672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D4A62"/>
                </a:solidFill>
                <a:latin typeface="Calibri"/>
              </a:rPr>
              <a:t>Canvas breach — student data leaked publicly (a local example!)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CBSY 100 – Cybersecurity Fundamentals  |  Steve Schofield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Why Do We Need an IR Plan?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Because guessing under pressure is not a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987552"/>
            <a:ext cx="3017520" cy="1920240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9050">
            <a:solidFill>
              <a:srgbClr val="0E7C7B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30175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$4.88M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9E8F5"/>
                </a:solidFill>
                <a:latin typeface="Calibri"/>
              </a:rPr>
              <a:t>Average cost of a data breach in 2024</a:t>
            </a:r>
          </a:p>
          <a:p>
            <a:pPr algn="ctr"/>
            <a:r>
              <a:rPr sz="1200" b="0" i="0">
                <a:solidFill>
                  <a:srgbClr val="D9E8F5"/>
                </a:solidFill>
                <a:latin typeface="Calibri"/>
              </a:rPr>
              <a:t>(IBM Cost of a Data Breach Report)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999232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9050">
            <a:solidFill>
              <a:srgbClr val="12A89D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3108960"/>
            <a:ext cx="3017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4A261"/>
                </a:solidFill>
                <a:latin typeface="Calibri"/>
              </a:rPr>
              <a:t>258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03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9E8F5"/>
                </a:solidFill>
                <a:latin typeface="Calibri"/>
              </a:rPr>
              <a:t>Average time to identify &amp; contain a breach when no plan exists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98755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89D"/>
                </a:solidFill>
                <a:latin typeface="Calibri"/>
              </a:rPr>
              <a:t>A Well-Crafted IR Plan Provides: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417320"/>
            <a:ext cx="5212080" cy="713232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4721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 Clear Roles &amp; Responsibilities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76479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9E8F5"/>
                </a:solidFill>
                <a:latin typeface="Calibri"/>
              </a:rPr>
              <a:t>Who does what — CIRT team, management, legal, communications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2276856"/>
            <a:ext cx="5212080" cy="713232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331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 Defined Playbooks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2432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9E8F5"/>
                </a:solidFill>
                <a:latin typeface="Calibri"/>
              </a:rPr>
              <a:t>Step-by-step procedures for ransomware, phishing, insider threats,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3136391"/>
            <a:ext cx="5212080" cy="713232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19125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 Legal &amp; Compliance Deadlines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83863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9E8F5"/>
                </a:solidFill>
                <a:latin typeface="Calibri"/>
              </a:rPr>
              <a:t>HIPAA: 60 days  |  GDPR: 72 hours  |  State laws vary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11880" y="3995928"/>
            <a:ext cx="5212080" cy="713232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39" y="4050791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 Business Continuity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343400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9E8F5"/>
                </a:solidFill>
                <a:latin typeface="Calibri"/>
              </a:rPr>
              <a:t>Minimize downtime, protect revenue, preserve customer trust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Source: IBM Cost of a Data Breach Report 2024  |  CBSY 100 – Steve Schofield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IR Life Cycle — 6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NIST SP 800-61  |  Every phase feeds the next — this is a loop, not a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100584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D6EAF8"/>
          </a:solidFill>
          <a:ln w="19050">
            <a:solidFill>
              <a:srgbClr val="1B4F72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1097280"/>
            <a:ext cx="384048" cy="384048"/>
          </a:xfrm>
          <a:prstGeom prst="ellipse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097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53619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B4F72"/>
                </a:solidFill>
                <a:latin typeface="Calibri"/>
              </a:rPr>
              <a:t>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01168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Policies, playbooks, team roles, tabletop drills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0672" y="1664208"/>
            <a:ext cx="2926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ABBC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82112" y="100584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D5F5E3"/>
          </a:solidFill>
          <a:ln w="19050">
            <a:solidFill>
              <a:srgbClr val="145A32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3552" y="1097280"/>
            <a:ext cx="384048" cy="384048"/>
          </a:xfrm>
          <a:prstGeom prst="ellipse">
            <a:avLst/>
          </a:prstGeom>
          <a:solidFill>
            <a:srgbClr val="145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097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53619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45A32"/>
                </a:solidFill>
                <a:latin typeface="Calibri"/>
              </a:rPr>
              <a:t>Detection &amp;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9272" y="201168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Triage alerts, classify severity, declare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664208"/>
            <a:ext cx="2926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ABBC8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100584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FDEBD0"/>
          </a:solidFill>
          <a:ln w="19050">
            <a:solidFill>
              <a:srgbClr val="784212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99631" y="1097280"/>
            <a:ext cx="384048" cy="384048"/>
          </a:xfrm>
          <a:prstGeom prst="ellipse">
            <a:avLst/>
          </a:prstGeom>
          <a:solidFill>
            <a:srgbClr val="784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1097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1" y="153619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784212"/>
                </a:solidFill>
                <a:latin typeface="Calibri"/>
              </a:rPr>
              <a:t>Containment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01168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Isolate affected systems — short-term then long-term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6032" y="288036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FADBD8"/>
          </a:solidFill>
          <a:ln w="19050">
            <a:solidFill>
              <a:srgbClr val="922B21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7472" y="2971800"/>
            <a:ext cx="384048" cy="384048"/>
          </a:xfrm>
          <a:prstGeom prst="ellipse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341071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922B21"/>
                </a:solidFill>
                <a:latin typeface="Calibri"/>
              </a:rPr>
              <a:t>Eradication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" y="388620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Remove malware, patch vuln, reset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3538728"/>
            <a:ext cx="2926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ABBC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82112" y="288036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D6EAF8"/>
          </a:solidFill>
          <a:ln w="19050">
            <a:solidFill>
              <a:srgbClr val="154360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3552" y="2971800"/>
            <a:ext cx="384048" cy="384048"/>
          </a:xfrm>
          <a:prstGeom prst="ellipse">
            <a:avLst/>
          </a:prstGeom>
          <a:solidFill>
            <a:srgbClr val="1543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341071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4360"/>
                </a:solidFill>
                <a:latin typeface="Calibri"/>
              </a:rPr>
              <a:t>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9272" y="388620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Restore from backup, monitor, validate clean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3538728"/>
            <a:ext cx="2926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ABBC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8192" y="2880360"/>
            <a:ext cx="2788920" cy="1664208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4A235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99631" y="2971800"/>
            <a:ext cx="384048" cy="384048"/>
          </a:xfrm>
          <a:prstGeom prst="ellipse">
            <a:avLst/>
          </a:prstGeom>
          <a:solidFill>
            <a:srgbClr val="4A2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1" y="29718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3410712"/>
            <a:ext cx="2606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4A235A"/>
                </a:solidFill>
                <a:latin typeface="Calibri"/>
              </a:rPr>
              <a:t>Lessons Learned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886200"/>
            <a:ext cx="2514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2D4A62"/>
                </a:solidFill>
                <a:latin typeface="Calibri"/>
              </a:rPr>
              <a:t>PIR report, timeline, update policies &amp; playbooks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4617720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2D4A62"/>
                </a:solidFill>
                <a:latin typeface="Calibri"/>
              </a:rPr>
              <a:t>↺   Phase 6 feeds back into Phase 1 — every incident improves your preparation for the next 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CBSY 100 – Cybersecurity Fundamentals  |  Steve Schofield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Scenario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You are the analyst — walk me through the IR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8503920" cy="1261872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25400">
            <a:solidFill>
              <a:srgbClr val="F4A261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60704"/>
            <a:ext cx="81838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A261"/>
                </a:solidFill>
                <a:latin typeface="Calibri"/>
              </a:rPr>
              <a:t>THE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5024"/>
            <a:ext cx="81838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Monday morning. HR emails IT: "I think I clicked something weird Friday night on my work laptop. Some files look different and I cannot open them. Also, there is a note on my desktop."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423160"/>
            <a:ext cx="8503920" cy="676656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423160"/>
            <a:ext cx="47548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A89D"/>
                </a:solidFill>
                <a:latin typeface="Calibri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78024"/>
            <a:ext cx="772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What type of incident is this?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79776"/>
            <a:ext cx="77266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E87A6"/>
                </a:solidFill>
                <a:latin typeface="Calibri"/>
              </a:rPr>
              <a:t>→  Think: file changes + desktop note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3209544"/>
            <a:ext cx="8503920" cy="676656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209544"/>
            <a:ext cx="47548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A89D"/>
                </a:solidFill>
                <a:latin typeface="Calibr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64408"/>
            <a:ext cx="772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Which IR phase are you in right now?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66160"/>
            <a:ext cx="77266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E87A6"/>
                </a:solidFill>
                <a:latin typeface="Calibri"/>
              </a:rPr>
              <a:t>→  Detection &amp; Analysis — triage before you touch anything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995928"/>
            <a:ext cx="8503920" cy="676656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995928"/>
            <a:ext cx="47548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A89D"/>
                </a:solidFill>
                <a:latin typeface="Calibri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50791"/>
            <a:ext cx="772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What is your FIRST action — and what would you NOT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52544"/>
            <a:ext cx="77266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E87A6"/>
                </a:solidFill>
                <a:latin typeface="Calibri"/>
              </a:rPr>
              <a:t>→  Isolate the machine. Do NOT wipe it — you need forensic evidence.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CBSY 100 – Cybersecurity Fundamentals  |  Steve Schofield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Phase 6: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The most-skipped phase — and the most important 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4069080" cy="3657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0DDE8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7C7B"/>
                </a:solidFill>
                <a:latin typeface="Calibri"/>
              </a:rPr>
              <a:t>Post-Incident Review (PIR)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D4A62"/>
                </a:solidFill>
                <a:latin typeface="Calibri"/>
              </a:rPr>
              <a:t>Conduct within 2 weeks of resolution.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Complete timeline of the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57984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How was it detected — and how long did detection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78608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What containment and eradication steps were taken?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99232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What worked well?  What failed?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19856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Are policies and playbooks updated?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What training gaps were identified?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61104"/>
            <a:ext cx="374903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2D4A62"/>
                </a:solidFill>
                <a:latin typeface="Calibri"/>
              </a:rPr>
              <a:t>Who is notified (legal, leadership, regulators)?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005840"/>
            <a:ext cx="4251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Why Organizations Skip It: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417320"/>
            <a:ext cx="4251960" cy="548640"/>
          </a:xfrm>
          <a:prstGeom prst="roundRect">
            <a:avLst>
              <a:gd name="adj" fmla="val 9000"/>
            </a:avLst>
          </a:prstGeom>
          <a:solidFill>
            <a:srgbClr val="FDECEA"/>
          </a:solidFill>
          <a:ln w="1524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1417320"/>
            <a:ext cx="40050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B71C1C"/>
                </a:solidFill>
                <a:latin typeface="Calibri"/>
              </a:rPr>
              <a:t>"We fixed it — we're done."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103120"/>
            <a:ext cx="4251960" cy="548640"/>
          </a:xfrm>
          <a:prstGeom prst="roundRect">
            <a:avLst>
              <a:gd name="adj" fmla="val 9000"/>
            </a:avLst>
          </a:prstGeom>
          <a:solidFill>
            <a:srgbClr val="FFF5E6"/>
          </a:solidFill>
          <a:ln w="15240">
            <a:solidFill>
              <a:srgbClr val="B060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2103120"/>
            <a:ext cx="40050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B06010"/>
                </a:solidFill>
                <a:latin typeface="Calibri"/>
              </a:rPr>
              <a:t>Pressure to return to normal operations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788920"/>
            <a:ext cx="4251960" cy="54864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524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788920"/>
            <a:ext cx="40050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565C0"/>
                </a:solidFill>
                <a:latin typeface="Calibri"/>
              </a:rPr>
              <a:t>No documented process for the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547872"/>
            <a:ext cx="4251960" cy="1115568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22860">
            <a:solidFill>
              <a:srgbClr val="F4A261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361188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A261"/>
                </a:solidFill>
                <a:latin typeface="Calibri"/>
              </a:rPr>
              <a:t>Colonial Pipeline — 2021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913632"/>
            <a:ext cx="39776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9E8F5"/>
                </a:solidFill>
                <a:latin typeface="Calibri"/>
              </a:rPr>
              <a:t>Attackers used a compromised VPN credential from a previous incident — one that was never documented, flagged, or revoked. A proper PIR would have caught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CBSY 100 – Cybersecurity Fundamentals  |  Steve Schofield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412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2A89D"/>
                </a:solidFill>
                <a:latin typeface="Calibri"/>
              </a:rPr>
              <a:t>What you carry out of this course — and into the 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5394960" cy="1024128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97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lifecycle is a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0817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D9E8F5"/>
                </a:solidFill>
                <a:latin typeface="Calibri"/>
              </a:rPr>
              <a:t>Every incident teaches you something that improves your preparation for the next one. Phase 6 feeds Phase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212848"/>
            <a:ext cx="5394960" cy="1024128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Speed vs.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9689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D9E8F5"/>
                </a:solidFill>
                <a:latin typeface="Calibri"/>
              </a:rPr>
              <a:t>The pressure to 'just fix it fast' is real — but a documented process makes you faster AND legally defensible.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01568"/>
            <a:ext cx="5394960" cy="1024128"/>
          </a:xfrm>
          <a:prstGeom prst="roundRect">
            <a:avLst>
              <a:gd name="adj" fmla="val 9000"/>
            </a:avLst>
          </a:prstGeom>
          <a:solidFill>
            <a:srgbClr val="1B2A3B"/>
          </a:solidFill>
          <a:ln w="12700">
            <a:solidFill>
              <a:srgbClr val="2A4A6A"/>
            </a:solidFill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474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Documentation is your defense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78561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D9E8F5"/>
                </a:solidFill>
                <a:latin typeface="Calibri"/>
              </a:rPr>
              <a:t>Legal compliance, breach notifications, and liability all depend on your IR records. If it is not written down, it did not happen.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1024128"/>
            <a:ext cx="2926080" cy="3675887"/>
          </a:xfrm>
          <a:prstGeom prst="roundRect">
            <a:avLst>
              <a:gd name="adj" fmla="val 9000"/>
            </a:avLst>
          </a:prstGeom>
          <a:solidFill>
            <a:srgbClr val="0E7C7B"/>
          </a:solidFill>
          <a:ln>
            <a:noFill/>
          </a:ln>
          <a:effectLst/>
          <a:effectLst>
            <a:outerShdw blurRad="54864" dist="22860" dir="27000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097280"/>
            <a:ext cx="2926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Cert Alignment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1691640"/>
            <a:ext cx="2651760" cy="804672"/>
          </a:xfrm>
          <a:prstGeom prst="roundRect">
            <a:avLst>
              <a:gd name="adj" fmla="val 9000"/>
            </a:avLst>
          </a:prstGeom>
          <a:solidFill>
            <a:srgbClr val="0A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74650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CompTIA Security+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057400"/>
            <a:ext cx="2651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Domain 4.0</a:t>
            </a:r>
          </a:p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Incident Response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2679192"/>
            <a:ext cx="2651760" cy="804672"/>
          </a:xfrm>
          <a:prstGeom prst="roundRect">
            <a:avLst>
              <a:gd name="adj" fmla="val 9000"/>
            </a:avLst>
          </a:prstGeom>
          <a:solidFill>
            <a:srgbClr val="0A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273405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CompTIA CySA+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044952"/>
            <a:ext cx="2651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Domain 4.0</a:t>
            </a:r>
          </a:p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Incident Mgmt &amp; Response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3666744"/>
            <a:ext cx="2651760" cy="804672"/>
          </a:xfrm>
          <a:prstGeom prst="roundRect">
            <a:avLst>
              <a:gd name="adj" fmla="val 9000"/>
            </a:avLst>
          </a:prstGeom>
          <a:solidFill>
            <a:srgbClr val="0A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37216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CISSP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4032504"/>
            <a:ext cx="2651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Domain 7</a:t>
            </a:r>
          </a:p>
          <a:p>
            <a:pPr algn="ctr"/>
            <a:r>
              <a:rPr sz="1050" b="0" i="0">
                <a:solidFill>
                  <a:srgbClr val="D9E8F5"/>
                </a:solidFill>
                <a:latin typeface="Calibri"/>
              </a:rPr>
              <a:t>Security 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617720"/>
            <a:ext cx="8503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3E6080"/>
                </a:solidFill>
                <a:latin typeface="Calibri"/>
              </a:rPr>
              <a:t>"The goal is not to avoid incidents — it is to respond so well they become learning opportunities."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892040"/>
            <a:ext cx="85039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6F96"/>
                </a:solidFill>
                <a:latin typeface="Calibri"/>
              </a:rPr>
              <a:t>CBSY 100 – Cybersecurity Fundamentals  |  Steve Schofield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
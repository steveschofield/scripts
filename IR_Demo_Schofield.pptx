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Drop the hook question and let it hang for 2-3 seconds before you start talking. Tell them this exact scenario has happened in real environments. Don't answer it yet — the next 12 minutes will.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teaching point: triage is the job. Organizations get thousands of alerts per day — what makes you valuable is knowing which ones are real. Ask: 'What is the difference between a false positive and a true positive?' Canvas PII breach = great local example students will remember.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Hit the $4.88M stat — it lands. Then: 'The organizations that recover fastest are not the ones with the best tech. They are the ones with the best plan.' HIPAA/GDPR deadlines make IR speed a legal requirement, not just a best practice.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Anchor slide — spend 60-90 seconds here. Walk each phase name with one sentence. Emphasize the CYCLE — draw a loop with your hand: 'Phase 6 is not the end, it is the input to Phase 1 next time.' Ask students which phase they think is most often skipped (it is Lessons Learned — tee up slide 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INSTRUCTOR: The hints on screen are for YOUR reference — cover them until after students respond, or reveal them after discussion. Ask Q1 cold to the class. For Q3, if nobody says 'isolate the machine from the network,' prompt: 'What is your risk if you immediately wipe it?' Answer: you destroy forensic evidence and violate eradication procedure. This question separates students who understand process from those who are just reacting.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Your mic-drop slide. Colonial Pipeline: $4.4M ransom traced to ONE credential that should have been caught in a post-incident review. 'Lessons Learned is not paperwork — it is how you stop the same incident from happening twice.' Ask: 'Has anyone ever done a project debrief that actually changed how you work?' Makes it relatable before going professional.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to Security+ Domain 4 — that is what most students will go for first. Mention your CySA+ directly here: that cert is built around exactly this work. Exit ticket question if time allows: 'Which phase do you think would be hardest for you personally — and why?' Good discussion starter.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65760"/>
            <a:ext cx="1828800" cy="347472"/>
          </a:xfrm>
          <a:prstGeom prst="ROUNDED_RECTANGLE">
            <a:avLst>
              <a:gd name="adj" fmla="val 26316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11480" y="3657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CBSY 100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11480" y="868680"/>
            <a:ext cx="56692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Management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11480" y="26060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2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IR Life Cycle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11480" y="3154680"/>
            <a:ext cx="8321040" cy="1417320"/>
          </a:xfrm>
          <a:prstGeom prst="ROUNDED_RECTANGLE">
            <a:avLst>
              <a:gd name="adj" fmla="val 6452"/>
            </a:avLst>
          </a:prstGeom>
          <a:solidFill>
            <a:srgbClr val="1B2A3B"/>
          </a:solidFill>
          <a:ln w="12700">
            <a:solidFill>
              <a:srgbClr val="0E7C7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3154680"/>
            <a:ext cx="8321040" cy="1417320"/>
          </a:xfrm>
          <a:prstGeom prst="ROUNDED_RECTANGLE">
            <a:avLst>
              <a:gd name="adj" fmla="val 6452"/>
            </a:avLst>
          </a:prstGeom>
          <a:solidFill>
            <a:srgbClr val="1B2A3B"/>
          </a:solidFill>
          <a:ln w="25400">
            <a:solidFill>
              <a:srgbClr val="0E7C7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321868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2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QUESTION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3493008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2:30 AM. Your SIEM fires 47 alerts. Your phone rings.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94360" y="3858768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your first move — and why does it matter?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1480" y="4709160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E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Steve Schofield  |  CompTIA CySA+  ·  Security+  ·  Pentest+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Security Incident?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2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alert is an incident — but every incident starts as an alert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4114800" cy="1463040"/>
          </a:xfrm>
          <a:prstGeom prst="ROUNDED_RECTANGLE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9728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Definition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408176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D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violation — or imminent threat of violation — of computer security policies, acceptable use policies, or standard security practices.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261518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Escalation Flow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2944368"/>
            <a:ext cx="3931920" cy="420624"/>
          </a:xfrm>
          <a:prstGeom prst="ROUNDED_RECTANGLE">
            <a:avLst>
              <a:gd name="adj" fmla="val 15217"/>
            </a:avLst>
          </a:prstGeom>
          <a:solidFill>
            <a:srgbClr val="DCF0F5"/>
          </a:solidFill>
          <a:ln w="15240">
            <a:solidFill>
              <a:srgbClr val="0E7C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944368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Fires (SIEM / EDR / IDS)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11480" y="3401568"/>
            <a:ext cx="3931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BBC8"/>
                </a:solidFill>
              </a:rPr>
              <a:t>▼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3511296"/>
            <a:ext cx="3931920" cy="420624"/>
          </a:xfrm>
          <a:prstGeom prst="ROUNDED_RECTANGLE">
            <a:avLst>
              <a:gd name="adj" fmla="val 15217"/>
            </a:avLst>
          </a:prstGeom>
          <a:solidFill>
            <a:srgbClr val="FFF5E6"/>
          </a:solidFill>
          <a:ln w="15240">
            <a:solidFill>
              <a:srgbClr val="F4A2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3511296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0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Investigates / Triages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11480" y="3968496"/>
            <a:ext cx="3931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BBC8"/>
                </a:solidFill>
              </a:rPr>
              <a:t>▼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4078224"/>
            <a:ext cx="3931920" cy="420624"/>
          </a:xfrm>
          <a:prstGeom prst="ROUNDED_RECTANGLE">
            <a:avLst>
              <a:gd name="adj" fmla="val 15217"/>
            </a:avLst>
          </a:prstGeom>
          <a:solidFill>
            <a:srgbClr val="FDECEA"/>
          </a:solidFill>
          <a:ln w="15240">
            <a:solidFill>
              <a:srgbClr val="C628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4078224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Declared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0" y="1024128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Examples You'll Encounter: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0" y="1417320"/>
            <a:ext cx="4251960" cy="694944"/>
          </a:xfrm>
          <a:prstGeom prst="ROUNDED_RECTANGLE">
            <a:avLst>
              <a:gd name="adj" fmla="val 13158"/>
            </a:avLst>
          </a:prstGeom>
          <a:solidFill>
            <a:srgbClr val="F4F9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81728" y="1618488"/>
            <a:ext cx="256032" cy="256032"/>
          </a:xfrm>
          <a:prstGeom prst="OVAL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1481328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/ BEC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29200" y="1764792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email compromise — attacker impersonates exec or vendor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0" y="2240280"/>
            <a:ext cx="4251960" cy="694944"/>
          </a:xfrm>
          <a:prstGeom prst="ROUNDED_RECTANGLE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81728" y="2441448"/>
            <a:ext cx="256032" cy="256032"/>
          </a:xfrm>
          <a:prstGeom prst="OVAL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0" y="2304288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29200" y="2587752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encrypted, ransom note dropped — business halted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0" y="3063240"/>
            <a:ext cx="4251960" cy="694944"/>
          </a:xfrm>
          <a:prstGeom prst="ROUNDED_RECTANGLE">
            <a:avLst>
              <a:gd name="adj" fmla="val 13158"/>
            </a:avLst>
          </a:prstGeom>
          <a:solidFill>
            <a:srgbClr val="F4F9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81728" y="3264408"/>
            <a:ext cx="256032" cy="256032"/>
          </a:xfrm>
          <a:prstGeom prst="OVAL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0" y="3127248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 / IoT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029200" y="3410712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code, PLC or industrial device exploits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0" y="3886200"/>
            <a:ext cx="4251960" cy="694944"/>
          </a:xfrm>
          <a:prstGeom prst="ROUNDED_RECTANGLE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81728" y="4087368"/>
            <a:ext cx="256032" cy="256032"/>
          </a:xfrm>
          <a:prstGeom prst="OVAL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0" y="3950208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Exposure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029200" y="4233672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breach — student data leaked publicly (a local example!)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4892040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CBSY 100 – Cybersecurity Fundamentals  |  Steve Schofield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We Need an IR Plan?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2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guessing under pressure is not a strategy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987552"/>
            <a:ext cx="3017520" cy="1920240"/>
          </a:xfrm>
          <a:prstGeom prst="ROUNDED_RECTANGLE">
            <a:avLst>
              <a:gd name="adj" fmla="val 4762"/>
            </a:avLst>
          </a:prstGeom>
          <a:solidFill>
            <a:srgbClr val="1B2A3B"/>
          </a:solidFill>
          <a:ln w="12700">
            <a:solidFill>
              <a:srgbClr val="0E7C7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87552"/>
            <a:ext cx="3017520" cy="1920240"/>
          </a:xfrm>
          <a:prstGeom prst="ROUNDED_RECTANGLE">
            <a:avLst>
              <a:gd name="adj" fmla="val 4762"/>
            </a:avLst>
          </a:prstGeom>
          <a:solidFill>
            <a:srgbClr val="1B2A3B"/>
          </a:solidFill>
          <a:ln w="19050">
            <a:solidFill>
              <a:srgbClr val="0E7C7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078992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$4.88M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11480" y="192024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cost of a data breach in 2024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D9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(IBM Cost of a Data Breach Report)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2999232"/>
            <a:ext cx="3017520" cy="1554480"/>
          </a:xfrm>
          <a:prstGeom prst="ROUNDED_RECTANGLE">
            <a:avLst>
              <a:gd name="adj" fmla="val 5882"/>
            </a:avLst>
          </a:prstGeom>
          <a:solidFill>
            <a:srgbClr val="1B2A3B"/>
          </a:solidFill>
          <a:ln w="12700">
            <a:solidFill>
              <a:srgbClr val="12A89D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999232"/>
            <a:ext cx="3017520" cy="1554480"/>
          </a:xfrm>
          <a:prstGeom prst="ROUNDED_RECTANGLE">
            <a:avLst>
              <a:gd name="adj" fmla="val 5882"/>
            </a:avLst>
          </a:prstGeom>
          <a:solidFill>
            <a:srgbClr val="1B2A3B"/>
          </a:solidFill>
          <a:ln w="19050">
            <a:solidFill>
              <a:srgbClr val="12A89D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" y="306324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258 Days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11480" y="3675888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time to identify &amp; contain a breach when no plan exists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11880" y="987552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Well-Crafted IR Plan Provides: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11880" y="1417320"/>
            <a:ext cx="5212080" cy="713232"/>
          </a:xfrm>
          <a:prstGeom prst="ROUNDED_RECTANGLE">
            <a:avLst>
              <a:gd name="adj" fmla="val 12821"/>
            </a:avLst>
          </a:prstGeom>
          <a:solidFill>
            <a:srgbClr val="1B2A3B"/>
          </a:solidFill>
          <a:ln w="12700">
            <a:solidFill>
              <a:srgbClr val="2A4A6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11880" y="1417320"/>
            <a:ext cx="5212080" cy="713232"/>
          </a:xfrm>
          <a:prstGeom prst="ROUNDED_RECTANGLE">
            <a:avLst>
              <a:gd name="adj" fmla="val 11538"/>
            </a:avLst>
          </a:prstGeom>
          <a:solidFill>
            <a:srgbClr val="1B2A3B"/>
          </a:solidFill>
          <a:ln w="12700">
            <a:solidFill>
              <a:srgbClr val="2A4A6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749040" y="1472184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Clear Roles &amp; Responsibilities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749040" y="1764792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does what — CIRT team, management, legal, communications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611880" y="2276856"/>
            <a:ext cx="5212080" cy="713232"/>
          </a:xfrm>
          <a:prstGeom prst="ROUNDED_RECTANGLE">
            <a:avLst>
              <a:gd name="adj" fmla="val 12821"/>
            </a:avLst>
          </a:prstGeom>
          <a:solidFill>
            <a:srgbClr val="1B2A3B"/>
          </a:solidFill>
          <a:ln w="12700">
            <a:solidFill>
              <a:srgbClr val="2A4A6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11880" y="2276856"/>
            <a:ext cx="5212080" cy="713232"/>
          </a:xfrm>
          <a:prstGeom prst="ROUNDED_RECTANGLE">
            <a:avLst>
              <a:gd name="adj" fmla="val 11538"/>
            </a:avLst>
          </a:prstGeom>
          <a:solidFill>
            <a:srgbClr val="1B2A3B"/>
          </a:solidFill>
          <a:ln w="12700">
            <a:solidFill>
              <a:srgbClr val="2A4A6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749040" y="23317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Defined Playbooks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749040" y="2624328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procedures for ransomware, phishing, insider threats, and more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611880" y="3136392"/>
            <a:ext cx="5212080" cy="713232"/>
          </a:xfrm>
          <a:prstGeom prst="ROUNDED_RECTANGLE">
            <a:avLst>
              <a:gd name="adj" fmla="val 12821"/>
            </a:avLst>
          </a:prstGeom>
          <a:solidFill>
            <a:srgbClr val="1B2A3B"/>
          </a:solidFill>
          <a:ln w="12700">
            <a:solidFill>
              <a:srgbClr val="2A4A6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11880" y="3136392"/>
            <a:ext cx="5212080" cy="713232"/>
          </a:xfrm>
          <a:prstGeom prst="ROUNDED_RECTANGLE">
            <a:avLst>
              <a:gd name="adj" fmla="val 11538"/>
            </a:avLst>
          </a:prstGeom>
          <a:solidFill>
            <a:srgbClr val="1B2A3B"/>
          </a:solidFill>
          <a:ln w="12700">
            <a:solidFill>
              <a:srgbClr val="2A4A6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749040" y="3191256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Legal &amp; Compliance Deadlines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749040" y="3483864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HIPAA: 60 days  |  GDPR: 72 hours  |  State laws vary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611880" y="3995928"/>
            <a:ext cx="5212080" cy="713232"/>
          </a:xfrm>
          <a:prstGeom prst="ROUNDED_RECTANGLE">
            <a:avLst>
              <a:gd name="adj" fmla="val 12821"/>
            </a:avLst>
          </a:prstGeom>
          <a:solidFill>
            <a:srgbClr val="1B2A3B"/>
          </a:solidFill>
          <a:ln w="12700">
            <a:solidFill>
              <a:srgbClr val="2A4A6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11880" y="3995928"/>
            <a:ext cx="5212080" cy="713232"/>
          </a:xfrm>
          <a:prstGeom prst="ROUNDED_RECTANGLE">
            <a:avLst>
              <a:gd name="adj" fmla="val 11538"/>
            </a:avLst>
          </a:prstGeom>
          <a:solidFill>
            <a:srgbClr val="1B2A3B"/>
          </a:solidFill>
          <a:ln w="12700">
            <a:solidFill>
              <a:srgbClr val="2A4A6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749040" y="405079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Business Continuity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749040" y="434340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downtime, protect revenue, preserve customer trust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4892040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IBM Cost of a Data Breach Report 2024  |  CBSY 100 – Steve Schofield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IR Life Cycle — 6 Phases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2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SP 800-61  |  Every phase feeds the next — this is a loop, not a checklist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6032" y="1005840"/>
            <a:ext cx="2788920" cy="1664208"/>
          </a:xfrm>
          <a:prstGeom prst="ROUNDED_RECTANGLE">
            <a:avLst>
              <a:gd name="adj" fmla="val 6593"/>
            </a:avLst>
          </a:prstGeom>
          <a:solidFill>
            <a:srgbClr val="D6EAF8"/>
          </a:solidFill>
          <a:ln w="19050">
            <a:solidFill>
              <a:srgbClr val="1B4F7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097280"/>
            <a:ext cx="384048" cy="384048"/>
          </a:xfrm>
          <a:prstGeom prst="OVAL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47472" y="1536192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93192" y="2011680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Policies, playbooks, team roles, tabletop drills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090672" y="1664208"/>
            <a:ext cx="292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BBC8"/>
                </a:solidFill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182112" y="1005840"/>
            <a:ext cx="2788920" cy="1664208"/>
          </a:xfrm>
          <a:prstGeom prst="ROUNDED_RECTANGLE">
            <a:avLst>
              <a:gd name="adj" fmla="val 6593"/>
            </a:avLst>
          </a:prstGeom>
          <a:solidFill>
            <a:srgbClr val="D5F5E3"/>
          </a:solidFill>
          <a:ln w="19050">
            <a:solidFill>
              <a:srgbClr val="145A3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73552" y="1097280"/>
            <a:ext cx="384048" cy="384048"/>
          </a:xfrm>
          <a:prstGeom prst="OVAL">
            <a:avLst/>
          </a:prstGeom>
          <a:solidFill>
            <a:srgbClr val="145A32"/>
          </a:solidFill>
          <a:ln w="12700">
            <a:solidFill>
              <a:srgbClr val="145A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73552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73552" y="1536192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&amp; Analysis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319272" y="2011680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alerts, classify severity, declare incident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016752" y="1664208"/>
            <a:ext cx="292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BBC8"/>
                </a:solidFill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108192" y="1005840"/>
            <a:ext cx="2788920" cy="1664208"/>
          </a:xfrm>
          <a:prstGeom prst="ROUNDED_RECTANGLE">
            <a:avLst>
              <a:gd name="adj" fmla="val 6593"/>
            </a:avLst>
          </a:prstGeom>
          <a:solidFill>
            <a:srgbClr val="FDEBD0"/>
          </a:solidFill>
          <a:ln w="19050">
            <a:solidFill>
              <a:srgbClr val="78421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99632" y="1097280"/>
            <a:ext cx="384048" cy="384048"/>
          </a:xfrm>
          <a:prstGeom prst="OVAL">
            <a:avLst/>
          </a:prstGeom>
          <a:solidFill>
            <a:srgbClr val="784212"/>
          </a:solidFill>
          <a:ln w="12700">
            <a:solidFill>
              <a:srgbClr val="78421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99632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199632" y="1536192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84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Containment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45352" y="2011680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 affected systems — short-term then long-term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56032" y="2880360"/>
            <a:ext cx="2788920" cy="1664208"/>
          </a:xfrm>
          <a:prstGeom prst="ROUNDED_RECTANGLE">
            <a:avLst>
              <a:gd name="adj" fmla="val 6593"/>
            </a:avLst>
          </a:prstGeom>
          <a:solidFill>
            <a:srgbClr val="FADBD8"/>
          </a:solidFill>
          <a:ln w="19050">
            <a:solidFill>
              <a:srgbClr val="922B2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47472" y="2971800"/>
            <a:ext cx="384048" cy="384048"/>
          </a:xfrm>
          <a:prstGeom prst="OVAL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47472" y="3410712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2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Eradication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393192" y="3886200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malware, patch vuln, reset credentials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090672" y="3538728"/>
            <a:ext cx="292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BBC8"/>
                </a:solidFill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182112" y="2880360"/>
            <a:ext cx="2788920" cy="1664208"/>
          </a:xfrm>
          <a:prstGeom prst="ROUNDED_RECTANGLE">
            <a:avLst>
              <a:gd name="adj" fmla="val 6593"/>
            </a:avLst>
          </a:prstGeom>
          <a:solidFill>
            <a:srgbClr val="D6EAF8"/>
          </a:solidFill>
          <a:ln w="19050">
            <a:solidFill>
              <a:srgbClr val="15436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73552" y="2971800"/>
            <a:ext cx="384048" cy="384048"/>
          </a:xfrm>
          <a:prstGeom prst="OVAL">
            <a:avLst/>
          </a:prstGeom>
          <a:solidFill>
            <a:srgbClr val="154360"/>
          </a:solidFill>
          <a:ln w="12700">
            <a:solidFill>
              <a:srgbClr val="1543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73552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273552" y="3410712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4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3319272" y="3886200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from backup, monitor, validate clean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016752" y="3538728"/>
            <a:ext cx="292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BBC8"/>
                </a:solidFill>
              </a:rPr>
              <a:t>→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108192" y="2880360"/>
            <a:ext cx="2788920" cy="1664208"/>
          </a:xfrm>
          <a:prstGeom prst="ROUNDED_RECTANGLE">
            <a:avLst>
              <a:gd name="adj" fmla="val 6593"/>
            </a:avLst>
          </a:prstGeom>
          <a:solidFill>
            <a:srgbClr val="E8DAEF"/>
          </a:solidFill>
          <a:ln w="19050">
            <a:solidFill>
              <a:srgbClr val="4A235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99632" y="2971800"/>
            <a:ext cx="384048" cy="384048"/>
          </a:xfrm>
          <a:prstGeom prst="OVAL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99632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199632" y="3410712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6245352" y="3886200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 report, timeline, update policies &amp; playbooks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20040" y="4617720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D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  Phase 6 feeds back into Phase 1 — every incident improves your preparation for the next one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0040" y="4892040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CBSY 100 – Cybersecurity Fundamentals  |  Steve Schofield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Challenge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2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the analyst — walk me through the IR lifecycle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8503920" cy="1261872"/>
          </a:xfrm>
          <a:prstGeom prst="ROUNDED_RECTANGLE">
            <a:avLst>
              <a:gd name="adj" fmla="val 7246"/>
            </a:avLst>
          </a:prstGeom>
          <a:solidFill>
            <a:srgbClr val="1B2A3B"/>
          </a:solidFill>
          <a:ln w="25400">
            <a:solidFill>
              <a:srgbClr val="F4A26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06070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SCENARIO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335024"/>
            <a:ext cx="8183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 morning. HR emails IT: "I think I clicked something weird Friday night on my work laptop. Some files look different and I cannot open them. Also, there is a note on my desktop."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20040" y="2423160"/>
            <a:ext cx="8503920" cy="676656"/>
          </a:xfrm>
          <a:prstGeom prst="ROUNDED_RECTANGLE">
            <a:avLst>
              <a:gd name="adj" fmla="val 10811"/>
            </a:avLst>
          </a:prstGeom>
          <a:solidFill>
            <a:srgbClr val="1B2A3B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423160"/>
            <a:ext cx="4754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0120" y="2478024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type of incident is this?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60120" y="2779776"/>
            <a:ext cx="7726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E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Think: file changes + desktop note = ?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" y="3209544"/>
            <a:ext cx="8503920" cy="676656"/>
          </a:xfrm>
          <a:prstGeom prst="ROUNDED_RECTANGLE">
            <a:avLst>
              <a:gd name="adj" fmla="val 10811"/>
            </a:avLst>
          </a:prstGeom>
          <a:solidFill>
            <a:srgbClr val="1B2A3B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3209544"/>
            <a:ext cx="4754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60120" y="326440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IR phase are you in right now?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60120" y="3566160"/>
            <a:ext cx="7726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E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Detection &amp; Analysis — triage before you touch anything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0040" y="3995928"/>
            <a:ext cx="8503920" cy="676656"/>
          </a:xfrm>
          <a:prstGeom prst="ROUNDED_RECTANGLE">
            <a:avLst>
              <a:gd name="adj" fmla="val 10811"/>
            </a:avLst>
          </a:prstGeom>
          <a:solidFill>
            <a:srgbClr val="1B2A3B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995928"/>
            <a:ext cx="4754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60120" y="405079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your FIRST action — and what would you NOT do?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60120" y="4352544"/>
            <a:ext cx="7726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E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Isolate the machine. Do NOT wipe it — you need forensic evidence.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4892040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CBSY 100 – Cybersecurity Fundamentals  |  Steve Schofield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6: Lessons Learned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2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most-skipped phase — and the most important one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4069080" cy="3657600"/>
          </a:xfrm>
          <a:prstGeom prst="ROUNDED_RECTANGLE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97280"/>
            <a:ext cx="3794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Post-Incident Review (PIR)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3794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D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within 2 weeks of resolution.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2D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timeline of the incident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15798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2D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was it detected — and how long did detection take?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5786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2D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containment and eradication steps were taken?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99923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2D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worked well?  What failed?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41985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2D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policies and playbooks updated?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84048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2D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training gaps were identified?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426110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2D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notified (legal, leadership, regulators)?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0" y="1005840"/>
            <a:ext cx="4251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Organizations Skip It: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0" y="1417320"/>
            <a:ext cx="4251960" cy="548640"/>
          </a:xfrm>
          <a:prstGeom prst="ROUNDED_RECTANGLE">
            <a:avLst>
              <a:gd name="adj" fmla="val 13333"/>
            </a:avLst>
          </a:prstGeom>
          <a:solidFill>
            <a:srgbClr val="FDECEA"/>
          </a:solidFill>
          <a:ln w="15240">
            <a:solidFill>
              <a:srgbClr val="B71C1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1417320"/>
            <a:ext cx="40050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fixed it — we're done."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0" y="2103120"/>
            <a:ext cx="4251960" cy="548640"/>
          </a:xfrm>
          <a:prstGeom prst="ROUNDED_RECTANGLE">
            <a:avLst>
              <a:gd name="adj" fmla="val 13333"/>
            </a:avLst>
          </a:prstGeom>
          <a:solidFill>
            <a:srgbClr val="FFF5E6"/>
          </a:solidFill>
          <a:ln w="15240">
            <a:solidFill>
              <a:srgbClr val="B0601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2103120"/>
            <a:ext cx="40050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0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to return to normal operations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0" y="2788920"/>
            <a:ext cx="4251960" cy="548640"/>
          </a:xfrm>
          <a:prstGeom prst="ROUNDED_RECTANGLE">
            <a:avLst>
              <a:gd name="adj" fmla="val 13333"/>
            </a:avLst>
          </a:prstGeom>
          <a:solidFill>
            <a:srgbClr val="E8F0FE"/>
          </a:solidFill>
          <a:ln w="1524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2788920"/>
            <a:ext cx="40050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documented process for the review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0" y="3547872"/>
            <a:ext cx="4251960" cy="1115568"/>
          </a:xfrm>
          <a:prstGeom prst="ROUNDED_RECTANGLE">
            <a:avLst>
              <a:gd name="adj" fmla="val 8197"/>
            </a:avLst>
          </a:prstGeom>
          <a:solidFill>
            <a:srgbClr val="1B2A3B"/>
          </a:solidFill>
          <a:ln w="22860">
            <a:solidFill>
              <a:srgbClr val="F4A26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709160" y="361188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Colonial Pipeline — 2021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09160" y="3913632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used a compromised VPN credential from a previous incident — one that was never documented, flagged, or revoked. A proper PIR would have caught it.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4892040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CBSY 100 – Cybersecurity Fundamentals  |  Steve Schofield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2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carry out of this course — and into the field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5394960" cy="1024128"/>
          </a:xfrm>
          <a:prstGeom prst="ROUNDED_RECTANGLE">
            <a:avLst>
              <a:gd name="adj" fmla="val 8929"/>
            </a:avLst>
          </a:prstGeom>
          <a:solidFill>
            <a:srgbClr val="1B2A3B"/>
          </a:solidFill>
          <a:ln w="12700">
            <a:solidFill>
              <a:srgbClr val="2A4A6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75488" y="10972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lifecycle is a loop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5488" y="1408176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incident teaches you something that improves your preparation for the next one. Phase 6 feeds Phase 1.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2212848"/>
            <a:ext cx="5394960" cy="1024128"/>
          </a:xfrm>
          <a:prstGeom prst="ROUNDED_RECTANGLE">
            <a:avLst>
              <a:gd name="adj" fmla="val 8929"/>
            </a:avLst>
          </a:prstGeom>
          <a:solidFill>
            <a:srgbClr val="1B2A3B"/>
          </a:solidFill>
          <a:ln w="12700">
            <a:solidFill>
              <a:srgbClr val="2A4A6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" y="22860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vs. process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488" y="2596896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pressure to 'just fix it fast' is real — but a documented process makes you faster AND legally defensible.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3401568"/>
            <a:ext cx="5394960" cy="1024128"/>
          </a:xfrm>
          <a:prstGeom prst="ROUNDED_RECTANGLE">
            <a:avLst>
              <a:gd name="adj" fmla="val 8929"/>
            </a:avLst>
          </a:prstGeom>
          <a:solidFill>
            <a:srgbClr val="1B2A3B"/>
          </a:solidFill>
          <a:ln w="12700">
            <a:solidFill>
              <a:srgbClr val="2A4A6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" y="34747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is your defense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5488" y="3785616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compliance, breach notifications, and liability all depend on your IR records. If it is not written down, it did not happen.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897880" y="1024128"/>
            <a:ext cx="2926080" cy="3675888"/>
          </a:xfrm>
          <a:prstGeom prst="ROUNDED_RECTANGLE">
            <a:avLst>
              <a:gd name="adj" fmla="val 3750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897880" y="109728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 Alignment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035040" y="1691640"/>
            <a:ext cx="2651760" cy="804672"/>
          </a:xfrm>
          <a:prstGeom prst="ROUNDED_RECTANGLE">
            <a:avLst>
              <a:gd name="adj" fmla="val 9091"/>
            </a:avLst>
          </a:prstGeom>
          <a:solidFill>
            <a:srgbClr val="0A6060"/>
          </a:solidFill>
          <a:ln w="12700">
            <a:solidFill>
              <a:srgbClr val="0A60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174650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CompTIA Security+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035040" y="207568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9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4.0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D9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035040" y="2679192"/>
            <a:ext cx="2651760" cy="804672"/>
          </a:xfrm>
          <a:prstGeom prst="ROUNDED_RECTANGLE">
            <a:avLst>
              <a:gd name="adj" fmla="val 9091"/>
            </a:avLst>
          </a:prstGeom>
          <a:solidFill>
            <a:srgbClr val="0A6060"/>
          </a:solidFill>
          <a:ln w="12700">
            <a:solidFill>
              <a:srgbClr val="0A60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0" y="2734056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CompTIA CySA+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035040" y="306324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9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4.0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D9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Mgmt &amp; Response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035040" y="3666744"/>
            <a:ext cx="2651760" cy="804672"/>
          </a:xfrm>
          <a:prstGeom prst="ROUNDED_RECTANGLE">
            <a:avLst>
              <a:gd name="adj" fmla="val 9091"/>
            </a:avLst>
          </a:prstGeom>
          <a:solidFill>
            <a:srgbClr val="0A6060"/>
          </a:solidFill>
          <a:ln w="12700">
            <a:solidFill>
              <a:srgbClr val="0A60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35040" y="372160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CISSP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035040" y="405079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9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7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D9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Operations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20040" y="4617720"/>
            <a:ext cx="8503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E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goal is not to avoid incidents — it is to respond so well they become learning opportunities."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4892040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CBSY 100 – Cybersecurity Fundamentals  |  Steve Schofield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Incident Response &amp; Management – IR Life Cycle</dc:title>
  <dc:subject>PptxGenJS Presentation</dc:subject>
  <dc:creator>Steve Schofield</dc:creator>
  <cp:lastModifiedBy>Steve Schofield</cp:lastModifiedBy>
  <cp:revision>1</cp:revision>
  <dcterms:created xsi:type="dcterms:W3CDTF">2026-06-30T23:03:06Z</dcterms:created>
  <dcterms:modified xsi:type="dcterms:W3CDTF">2026-06-30T23:03:06Z</dcterms:modified>
</cp:coreProperties>
</file>